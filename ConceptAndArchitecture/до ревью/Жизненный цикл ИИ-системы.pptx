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5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65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302F-F208-4A14-AC54-FF088CD75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96525"/>
            <a:ext cx="9448800" cy="610611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Жизненный цикл ИИ-системы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«Классификация спама 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кликбейта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голосовых сообщениях»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A7F8D4-BD69-455F-9D26-7F7EB557B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" y="707136"/>
            <a:ext cx="12051792" cy="284480"/>
          </a:xfrm>
        </p:spPr>
        <p:txBody>
          <a:bodyPr>
            <a:normAutofit/>
          </a:bodyPr>
          <a:lstStyle/>
          <a:p>
            <a:pPr algn="ctr"/>
            <a:r>
              <a:rPr lang="ru-RU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Финальный продукт: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Мобильное приложение (</a:t>
            </a:r>
            <a:r>
              <a:rPr lang="ru-RU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которое анализирует входящие аудио и помечает их как «Спам», «</a:t>
            </a:r>
            <a:r>
              <a:rPr lang="ru-RU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Кликбейт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или «Обычное».</a:t>
            </a:r>
            <a:endParaRPr lang="ru-RU" sz="1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13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963FDE-C130-4DBA-ADD8-85AA2A4E4857}"/>
              </a:ext>
            </a:extLst>
          </p:cNvPr>
          <p:cNvSpPr/>
          <p:nvPr/>
        </p:nvSpPr>
        <p:spPr>
          <a:xfrm>
            <a:off x="34979" y="1294372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2DBC4-F582-4DB7-B439-4AEDCC3DFF29}"/>
              </a:ext>
            </a:extLst>
          </p:cNvPr>
          <p:cNvSpPr txBox="1"/>
          <p:nvPr/>
        </p:nvSpPr>
        <p:spPr>
          <a:xfrm>
            <a:off x="104491" y="1425243"/>
            <a:ext cx="1247648" cy="424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1. Бизнес-задача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Автоматически классифицировать голосовые сообщения из телефонных звонков и мессенджеров (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Telegram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WhatsApp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VK, MAX) на спам,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кликбейт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обычные сообщения, чтобы защитить пользователей от нежелательного контента.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Бизнес-заказчик, Аналитик.</a:t>
            </a:r>
          </a:p>
          <a:p>
            <a:pPr algn="l"/>
            <a:b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Точность классификации окажется недостаточной для реального использования, пользователи не будут доверять ИИ-приложению и откажутся от него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5F3929-F608-4741-8E8F-E542C1599025}"/>
              </a:ext>
            </a:extLst>
          </p:cNvPr>
          <p:cNvSpPr/>
          <p:nvPr/>
        </p:nvSpPr>
        <p:spPr>
          <a:xfrm>
            <a:off x="1794481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F6080B0-7866-4F26-B727-3DB34764D65C}"/>
              </a:ext>
            </a:extLst>
          </p:cNvPr>
          <p:cNvSpPr/>
          <p:nvPr/>
        </p:nvSpPr>
        <p:spPr>
          <a:xfrm>
            <a:off x="3552434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0CD6456-6724-4745-B8F9-D5FC8AEF197C}"/>
              </a:ext>
            </a:extLst>
          </p:cNvPr>
          <p:cNvSpPr/>
          <p:nvPr/>
        </p:nvSpPr>
        <p:spPr>
          <a:xfrm>
            <a:off x="5310072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D19AD52-EE78-4F07-80E5-8FC092FBD4A2}"/>
              </a:ext>
            </a:extLst>
          </p:cNvPr>
          <p:cNvSpPr/>
          <p:nvPr/>
        </p:nvSpPr>
        <p:spPr>
          <a:xfrm>
            <a:off x="7080483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A71CE856-D48B-4522-A150-E44F0E3BDC2B}"/>
              </a:ext>
            </a:extLst>
          </p:cNvPr>
          <p:cNvSpPr/>
          <p:nvPr/>
        </p:nvSpPr>
        <p:spPr>
          <a:xfrm>
            <a:off x="8869680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E4F53032-7B00-4993-B019-12BE26D7CDE1}"/>
              </a:ext>
            </a:extLst>
          </p:cNvPr>
          <p:cNvSpPr/>
          <p:nvPr/>
        </p:nvSpPr>
        <p:spPr>
          <a:xfrm>
            <a:off x="10617158" y="1317746"/>
            <a:ext cx="1396026" cy="45140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1AFBBC-10B6-42F2-95C9-258BAB54273F}"/>
              </a:ext>
            </a:extLst>
          </p:cNvPr>
          <p:cNvSpPr txBox="1"/>
          <p:nvPr/>
        </p:nvSpPr>
        <p:spPr>
          <a:xfrm>
            <a:off x="1868670" y="1410611"/>
            <a:ext cx="12476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2. ML-задача и метрика</a:t>
            </a:r>
          </a:p>
          <a:p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Задача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многоклассовой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классификации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-сообщений на 3 класса. Метрики: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F1-score для каждого класса,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для класса "спам" (важно минимизировать ложные срабатывания).</a:t>
            </a:r>
            <a:b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Scientist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ML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Несбалансированные классы (спам реже обычных сообщений) приведут к смещению модели в сторону мажоритарного класса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(модель научится всегда предсказывать «обычное».).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CFBB1-A9F7-4168-91B7-C4ACD07CD63F}"/>
              </a:ext>
            </a:extLst>
          </p:cNvPr>
          <p:cNvSpPr txBox="1"/>
          <p:nvPr/>
        </p:nvSpPr>
        <p:spPr>
          <a:xfrm>
            <a:off x="3626623" y="1408632"/>
            <a:ext cx="1247648" cy="440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3. Данные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Собираем голосовые сообщения из мессенджеров с разными характеристиками: различные языки, акценты, фоновые шумы, качество записи. Используем TTS для синтеза аудио на основе текстовых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датасетов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спама и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кликбейта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Для каждого аудио создаем метку класса (спам/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кликбейт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обычное).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Scientist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ML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b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Модель увидит не то, на чём обучалась (TTS 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реальность). </a:t>
            </a:r>
          </a:p>
          <a:p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Синтезированный TTS-звук не имеет реальных шумов, аудио не будут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достаточно похожи на реальные голосовые сообщения, модель плохо обобщится на живую речь.</a:t>
            </a:r>
          </a:p>
        </p:txBody>
      </p:sp>
      <p:sp>
        <p:nvSpPr>
          <p:cNvPr id="39" name="Стрелка: вправо 38">
            <a:extLst>
              <a:ext uri="{FF2B5EF4-FFF2-40B4-BE49-F238E27FC236}">
                <a16:creationId xmlns:a16="http://schemas.microsoft.com/office/drawing/2014/main" id="{9B8CE3BE-FC61-47AE-B4A6-BAB89B3B2B9F}"/>
              </a:ext>
            </a:extLst>
          </p:cNvPr>
          <p:cNvSpPr/>
          <p:nvPr/>
        </p:nvSpPr>
        <p:spPr>
          <a:xfrm>
            <a:off x="1441165" y="3152350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: вправо 39">
            <a:extLst>
              <a:ext uri="{FF2B5EF4-FFF2-40B4-BE49-F238E27FC236}">
                <a16:creationId xmlns:a16="http://schemas.microsoft.com/office/drawing/2014/main" id="{F1B5BB48-F017-418D-86E5-8F1F0D853228}"/>
              </a:ext>
            </a:extLst>
          </p:cNvPr>
          <p:cNvSpPr/>
          <p:nvPr/>
        </p:nvSpPr>
        <p:spPr>
          <a:xfrm>
            <a:off x="10275866" y="3263751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трелка: вправо 40">
            <a:extLst>
              <a:ext uri="{FF2B5EF4-FFF2-40B4-BE49-F238E27FC236}">
                <a16:creationId xmlns:a16="http://schemas.microsoft.com/office/drawing/2014/main" id="{F05B7EE3-835A-4DAA-930D-C73AB61F3871}"/>
              </a:ext>
            </a:extLst>
          </p:cNvPr>
          <p:cNvSpPr/>
          <p:nvPr/>
        </p:nvSpPr>
        <p:spPr>
          <a:xfrm>
            <a:off x="8493802" y="3245104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трелка: вправо 41">
            <a:extLst>
              <a:ext uri="{FF2B5EF4-FFF2-40B4-BE49-F238E27FC236}">
                <a16:creationId xmlns:a16="http://schemas.microsoft.com/office/drawing/2014/main" id="{E9442B6D-1C88-4F0E-A7D8-E3A000FDCC57}"/>
              </a:ext>
            </a:extLst>
          </p:cNvPr>
          <p:cNvSpPr/>
          <p:nvPr/>
        </p:nvSpPr>
        <p:spPr>
          <a:xfrm>
            <a:off x="6718206" y="3143863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Стрелка: вправо 42">
            <a:extLst>
              <a:ext uri="{FF2B5EF4-FFF2-40B4-BE49-F238E27FC236}">
                <a16:creationId xmlns:a16="http://schemas.microsoft.com/office/drawing/2014/main" id="{BD355597-6E1C-438E-915D-FC0E01FECBDE}"/>
              </a:ext>
            </a:extLst>
          </p:cNvPr>
          <p:cNvSpPr/>
          <p:nvPr/>
        </p:nvSpPr>
        <p:spPr>
          <a:xfrm>
            <a:off x="4958620" y="3152709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трелка: вправо 43">
            <a:extLst>
              <a:ext uri="{FF2B5EF4-FFF2-40B4-BE49-F238E27FC236}">
                <a16:creationId xmlns:a16="http://schemas.microsoft.com/office/drawing/2014/main" id="{D548F5DF-450B-4870-8CE0-C9BA25111697}"/>
              </a:ext>
            </a:extLst>
          </p:cNvPr>
          <p:cNvSpPr/>
          <p:nvPr/>
        </p:nvSpPr>
        <p:spPr>
          <a:xfrm>
            <a:off x="3201809" y="3187191"/>
            <a:ext cx="341292" cy="23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04C0E0-3B64-422F-8AF6-3D442B5AA66A}"/>
              </a:ext>
            </a:extLst>
          </p:cNvPr>
          <p:cNvSpPr txBox="1"/>
          <p:nvPr/>
        </p:nvSpPr>
        <p:spPr>
          <a:xfrm>
            <a:off x="5364396" y="1360524"/>
            <a:ext cx="1306723" cy="462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4. Эксперименты</a:t>
            </a:r>
          </a:p>
          <a:p>
            <a:pPr algn="l"/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Обучаем и сравниваем архитектуры: CNN для спектрограмм, RNN/LSTM для временных последовательностей, трансформеры (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Wav2Vec2, 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HuBERT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Аугментация: добавление фонового шума, изменение тональности. Экспериментируем с предобработкой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шумоподавление, нормализация громкости, извлечение признаков. Подбираем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гиперпараметры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Scientist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Переобучение на специфичных характеристиках обучающей выборки (определенные голоса,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акценты, артефакты TTS-синтеза), модель не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сможет работать с разнообразными реальными сообщения-ми,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будет искать «роботизированный» звук, а не смысл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endParaRPr lang="ru-RU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456F7-06EC-4181-96F8-DE4CF986DE51}"/>
              </a:ext>
            </a:extLst>
          </p:cNvPr>
          <p:cNvSpPr txBox="1"/>
          <p:nvPr/>
        </p:nvSpPr>
        <p:spPr>
          <a:xfrm>
            <a:off x="7169786" y="1360524"/>
            <a:ext cx="1306723" cy="4509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5. Тестирование</a:t>
            </a:r>
          </a:p>
          <a:p>
            <a:pPr algn="l"/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 </a:t>
            </a:r>
          </a:p>
          <a:p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Проверяем модель на реальных записях из 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Telegram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WhatsApp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(сжатие аудио), с фоновым шумом улицы и метро. </a:t>
            </a:r>
          </a:p>
          <a:p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классификации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новых голосовых сообщениях: разные языки, диалекты, фоновые шумы, качество записи. Тестирование на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edge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cases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очень короткие сообщения, искаженный звук, перекрытие голосов.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Scientist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ML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ru-RU" sz="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Модель хорошо работает на тестовой выборке, но делает ошибки на реальных сообщениях пользователей из-за различий в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распределении данных. Сжатие аудио в мессенджерах искажает частоты, точность падает.</a:t>
            </a:r>
          </a:p>
          <a:p>
            <a:endParaRPr lang="ru-RU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158FFF-653E-4573-A8BF-AAEA3C700A7D}"/>
              </a:ext>
            </a:extLst>
          </p:cNvPr>
          <p:cNvSpPr txBox="1"/>
          <p:nvPr/>
        </p:nvSpPr>
        <p:spPr>
          <a:xfrm>
            <a:off x="8969143" y="1361542"/>
            <a:ext cx="1306723" cy="4567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6. Деплой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Интеграция обученной модели в мобильное приложение (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iOS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оптимизация для работы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on-device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(квантование,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pruning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создание API для облачной обработки при необходимости, интеграция с мессенджерами.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ML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AI/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MLOps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Сложно встроить в систему (ограничения 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iOS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Высокое потребление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батареи и памяти на смартфоне, большая задержка обработки, проблемы с интеграцией в различные мессенджеры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позволят приложению перехватывать аудио в фоне.</a:t>
            </a:r>
            <a:endParaRPr lang="ru-RU" sz="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354115-6982-4112-8026-447EED365479}"/>
              </a:ext>
            </a:extLst>
          </p:cNvPr>
          <p:cNvSpPr txBox="1"/>
          <p:nvPr/>
        </p:nvSpPr>
        <p:spPr>
          <a:xfrm>
            <a:off x="10712442" y="1360524"/>
            <a:ext cx="13067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 7. Мониторинг</a:t>
            </a:r>
          </a:p>
          <a:p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Отслеживание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/F1 на размеченных пользователями сообщениях, время обработки аудио, количество ложных срабатываний, доля сообщений отправленных на ручную проверку, потребление ресурсов устройства.</a:t>
            </a:r>
          </a:p>
          <a:p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br>
              <a:rPr lang="ru-RU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Роль</a:t>
            </a: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AI/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MLOps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Аналитик.</a:t>
            </a:r>
          </a:p>
          <a:p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Риск: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 устаревает из-за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появления 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новых схем мошенников, 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новых типов спама, изменения языковых паттернов, новых мессенджеров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изменения форматов аудио в мессенджерах. Качество постепенно снижается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Н</a:t>
            </a:r>
            <a:r>
              <a:rPr lang="ru-RU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икто не заметит, что модель испортилась (дрейф данных).</a:t>
            </a:r>
          </a:p>
        </p:txBody>
      </p:sp>
      <p:sp>
        <p:nvSpPr>
          <p:cNvPr id="49" name="Стрелка: изогнутая вверх 48">
            <a:extLst>
              <a:ext uri="{FF2B5EF4-FFF2-40B4-BE49-F238E27FC236}">
                <a16:creationId xmlns:a16="http://schemas.microsoft.com/office/drawing/2014/main" id="{6E4EA15D-3609-4829-B3E5-A19BE17F20FB}"/>
              </a:ext>
            </a:extLst>
          </p:cNvPr>
          <p:cNvSpPr/>
          <p:nvPr/>
        </p:nvSpPr>
        <p:spPr>
          <a:xfrm rot="10800000" flipV="1">
            <a:off x="4153407" y="5831840"/>
            <a:ext cx="7325055" cy="70307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AA96A1-4DEE-4102-9CCE-CA02B0D63539}"/>
              </a:ext>
            </a:extLst>
          </p:cNvPr>
          <p:cNvSpPr txBox="1"/>
          <p:nvPr/>
        </p:nvSpPr>
        <p:spPr>
          <a:xfrm>
            <a:off x="5218176" y="6093026"/>
            <a:ext cx="5575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«Мониторинг» находит проблему, возвращаемся к этапу «Данные» для сбора новых примеров и переобучения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44036001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{D5433446-BAA1-4C5D-A742-8F2216969D6B}TF49310879-45c6-4d72-870a-c20bc0dca3322c77a515-64ca42e706c6</Template>
  <TotalTime>71</TotalTime>
  <Words>672</Words>
  <Application>Microsoft Office PowerPoint</Application>
  <PresentationFormat>Широкоэкранный</PresentationFormat>
  <Paragraphs>55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Times New Roman</vt:lpstr>
      <vt:lpstr>След самолета</vt:lpstr>
      <vt:lpstr>Жизненный цикл ИИ-системы Проект: «Классификация спама и кликбейта в голосовых сообщениях»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 цикл ИИ-системы Проект: «Классификация спама и кликбейта в голосовых сообщениях»</dc:title>
  <dc:creator>Владимир Зайцев</dc:creator>
  <cp:lastModifiedBy>Владимир Зайцев</cp:lastModifiedBy>
  <cp:revision>9</cp:revision>
  <dcterms:created xsi:type="dcterms:W3CDTF">2026-09-08T04:26:15Z</dcterms:created>
  <dcterms:modified xsi:type="dcterms:W3CDTF">2026-09-08T05:37:39Z</dcterms:modified>
</cp:coreProperties>
</file>